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Revenue &amp; EBITDA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3936.6</c:v>
                </c:pt>
                <c:pt idx="1">
                  <c:v>4562.6000000000004</c:v>
                </c:pt>
                <c:pt idx="2">
                  <c:v>5406</c:v>
                </c:pt>
                <c:pt idx="3">
                  <c:v>7028.5</c:v>
                </c:pt>
                <c:pt idx="4">
                  <c:v>8373.5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C2-464D-9B4F-D922413528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 Cr)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947.7</c:v>
                </c:pt>
                <c:pt idx="1">
                  <c:v>1240.5</c:v>
                </c:pt>
                <c:pt idx="2">
                  <c:v>1493.3</c:v>
                </c:pt>
                <c:pt idx="3">
                  <c:v>1848.8</c:v>
                </c:pt>
                <c:pt idx="4">
                  <c:v>2242.8000000000002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C2-464D-9B4F-D922413528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₹ crore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Current &amp; Quick Ratio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Ratio (x)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1.32</c:v>
                </c:pt>
                <c:pt idx="1">
                  <c:v>1.86</c:v>
                </c:pt>
                <c:pt idx="2">
                  <c:v>1.37</c:v>
                </c:pt>
                <c:pt idx="3">
                  <c:v>0.88</c:v>
                </c:pt>
                <c:pt idx="4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1C-4A29-A3FB-5F67B12ED6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Quick Ratio (x)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1.24</c:v>
                </c:pt>
                <c:pt idx="1">
                  <c:v>1.79</c:v>
                </c:pt>
                <c:pt idx="2">
                  <c:v>1.3</c:v>
                </c:pt>
                <c:pt idx="3">
                  <c:v>0.82</c:v>
                </c:pt>
                <c:pt idx="4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1C-4A29-A3FB-5F67B12ED6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x (times)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Net Debt vs. Equity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Debt (₹ Cr)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417.5</c:v>
                </c:pt>
                <c:pt idx="1">
                  <c:v>522.1</c:v>
                </c:pt>
                <c:pt idx="2">
                  <c:v>169.8</c:v>
                </c:pt>
                <c:pt idx="3">
                  <c:v>1827.3</c:v>
                </c:pt>
                <c:pt idx="4">
                  <c:v>2241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4F-43BE-8899-B298D0585E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Equity (₹ Cr)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6282.5</c:v>
                </c:pt>
                <c:pt idx="1">
                  <c:v>7409.6</c:v>
                </c:pt>
                <c:pt idx="2">
                  <c:v>8408.1</c:v>
                </c:pt>
                <c:pt idx="3">
                  <c:v>9380.9</c:v>
                </c:pt>
                <c:pt idx="4">
                  <c:v>10746.6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4F-43BE-8899-B298D0585E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₹ crore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Interest Coverage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ISCR (EBITDA/Finance Cost)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9.4</c:v>
                </c:pt>
                <c:pt idx="1">
                  <c:v>14.8</c:v>
                </c:pt>
                <c:pt idx="2">
                  <c:v>24.9</c:v>
                </c:pt>
                <c:pt idx="3">
                  <c:v>11.2</c:v>
                </c:pt>
                <c:pt idx="4">
                  <c:v>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C3-4AC7-864E-DA10BD164A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 / Interest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7.2</c:v>
                </c:pt>
                <c:pt idx="1">
                  <c:v>12</c:v>
                </c:pt>
                <c:pt idx="2">
                  <c:v>20.8</c:v>
                </c:pt>
                <c:pt idx="3">
                  <c:v>9</c:v>
                </c:pt>
                <c:pt idx="4">
                  <c:v>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C3-4AC7-864E-DA10BD164A3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CFO / Finance Cost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7.3</c:v>
                </c:pt>
                <c:pt idx="1">
                  <c:v>14.4</c:v>
                </c:pt>
                <c:pt idx="2">
                  <c:v>18.7</c:v>
                </c:pt>
                <c:pt idx="3">
                  <c:v>8.6999999999999993</c:v>
                </c:pt>
                <c:pt idx="4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BC3-4AC7-864E-DA10BD164A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x (times)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91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04800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8871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8830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04599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59312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853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4597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4034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801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173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996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193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923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7581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2601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3209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0026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5652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066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10054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6990743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8608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75272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1635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7933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1987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2195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29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7FA43F5B-065E-43CE-B3FD-98C48A6F94D7}" type="datetime1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54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  <p:sldLayoutId id="2147483912" r:id="rId18"/>
    <p:sldLayoutId id="2147483913" r:id="rId19"/>
    <p:sldLayoutId id="2147483914" r:id="rId20"/>
    <p:sldLayoutId id="2147483915" r:id="rId21"/>
    <p:sldLayoutId id="2147483916" r:id="rId22"/>
    <p:sldLayoutId id="2147483917" r:id="rId23"/>
    <p:sldLayoutId id="2147483918" r:id="rId24"/>
    <p:sldLayoutId id="2147483919" r:id="rId25"/>
    <p:sldLayoutId id="2147483920" r:id="rId26"/>
    <p:sldLayoutId id="2147483921" r:id="rId27"/>
    <p:sldLayoutId id="2147483922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www.indiamart.com/max-healthcare-institute-limited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866726" y="1956816"/>
            <a:ext cx="2266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CREDIT RISK ANALYSIS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984183" y="1059437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Healthcare Institute Limited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502920" y="4764024"/>
            <a:ext cx="11183112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3762" y="494690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Swastika Sri
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PGDM- Financial Management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82D981-DF27-0A4D-32A5-6781E6228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447023" y="2360294"/>
            <a:ext cx="2897605" cy="14416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&amp; Operating Performance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759952" y="566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STRONG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16002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(₹ Cr)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3,936.6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4,562.6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5,406.0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7,028.5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8,373.5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947.7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1,493.3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1,848.8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2,242.8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1,057.6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1,075.9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1,442.4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 Margin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238684653"/>
              </p:ext>
            </p:extLst>
          </p:nvPr>
        </p:nvGraphicFramePr>
        <p:xfrm>
          <a:off x="502920" y="3312053"/>
          <a:ext cx="11183112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02920" y="5806440"/>
            <a:ext cx="11183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growth FY26: 34.1% YoY, on revenue CAGR of ≈20.8% (FY22-FY26). EBITDA margin has held in a stable 24-28% band through the cycle, and FY26 PAT comfortably covers the incremental finance cost of the proposed facility.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Liquidity &amp; Working Capital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759952" y="566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/ MONITOR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145572866"/>
              </p:ext>
            </p:extLst>
          </p:nvPr>
        </p:nvGraphicFramePr>
        <p:xfrm>
          <a:off x="502920" y="150876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304842"/>
              </p:ext>
            </p:extLst>
          </p:nvPr>
        </p:nvGraphicFramePr>
        <p:xfrm>
          <a:off x="7360920" y="1508760"/>
          <a:ext cx="4325112" cy="995680"/>
        </p:xfrm>
        <a:graphic>
          <a:graphicData uri="http://schemas.openxmlformats.org/drawingml/2006/table">
            <a:tbl>
              <a:tblPr/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Debtor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Conv. Cycle (d)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360920" y="2514600"/>
            <a:ext cx="4325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Cash &amp; Bank Balances: ₹701 Cr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Cash from Operations (CFO): ₹1,633 Cr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360920" y="3246120"/>
            <a:ext cx="4325112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60920" y="352958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implication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3657600"/>
            <a:ext cx="43251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and quick ratios fell below 1.0x in FY25-FY26 (0.89x &amp; 0.84x respectively) as current liabilities (₹2,187 Cr) now exceed current assets (₹1,945 Cr). </a:t>
            </a:r>
            <a:endParaRPr lang="en-US" sz="140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Debtor days have risen to 42.3 days and the cash conversion cycle has turned positive, signalling some build-up in working-capital intensity. </a:t>
            </a:r>
            <a:endParaRPr lang="en-US" sz="140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Balance-sheet liquidity is tight, but strong operating cash generation (CFO ₹1,633 Cr, FY26) is an important mitigant.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Structure &amp; Leverage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759952" y="566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876626320"/>
              </p:ext>
            </p:extLst>
          </p:nvPr>
        </p:nvGraphicFramePr>
        <p:xfrm>
          <a:off x="502920" y="1508760"/>
          <a:ext cx="1118311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286190"/>
              </p:ext>
            </p:extLst>
          </p:nvPr>
        </p:nvGraphicFramePr>
        <p:xfrm>
          <a:off x="502920" y="4754880"/>
          <a:ext cx="5760720" cy="868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Leverage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FY22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FY23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FY24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FY25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FY26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D/E (x)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0.12x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0.08x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0.14x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0.27x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0.27x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Net Debt/EBITDA (x)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0.44x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0.42x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0.11x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0.99x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1.00x</a:t>
                      </a:r>
                      <a:endParaRPr lang="en-US" sz="12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46520" y="4754880"/>
            <a:ext cx="0" cy="141732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629400" y="4846319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629400" y="4864608"/>
            <a:ext cx="5056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Balance-sheet leverage is low: D/E of 0.27x and Net Debt/EBITDA of 1.00x (FY26). The equity base has grown steadily to ₹10,747 Cr, comfortably outpacing net debt, which has risen from ₹170 Cr (FY24) to ₹2,241 Cr (FY26) on capex-led expansion.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 Service &amp; Credit Risk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759952" y="566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270633"/>
              </p:ext>
            </p:extLst>
          </p:nvPr>
        </p:nvGraphicFramePr>
        <p:xfrm>
          <a:off x="569496" y="1371599"/>
          <a:ext cx="6560418" cy="1099955"/>
        </p:xfrm>
        <a:graphic>
          <a:graphicData uri="http://schemas.openxmlformats.org/drawingml/2006/table">
            <a:tbl>
              <a:tblPr/>
              <a:tblGrid>
                <a:gridCol w="252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1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8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2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9.54x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989320" y="1600200"/>
            <a:ext cx="5696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9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572778891"/>
              </p:ext>
            </p:extLst>
          </p:nvPr>
        </p:nvGraphicFramePr>
        <p:xfrm>
          <a:off x="502920" y="2697480"/>
          <a:ext cx="11183112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6537960" y="4892040"/>
            <a:ext cx="0" cy="146304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02920" y="489204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516636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 of 5.61x (FY26) indicates strong debt-servicing capacity, comfortably covering interest and scheduled principal.</a:t>
            </a:r>
            <a:endParaRPr lang="en-US" sz="12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 remains strong, supported by healthy operating earnings (ISCR 9.54x).</a:t>
            </a:r>
            <a:endParaRPr lang="en-US" sz="12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Debt-service capacity should nevertheless be monitored alongside the recent increase in debt and finance cost.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720840" y="4892040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Credit Risks / Monitoring Points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720840" y="5166360"/>
            <a:ext cx="4965192" cy="1065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Working-capital liquidity (current ratio &lt; 1.0x)</a:t>
            </a:r>
            <a:endParaRPr lang="en-US" sz="12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debtor days (42 days, FY26)</a:t>
            </a:r>
            <a:endParaRPr lang="en-US" sz="12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debt-funded expansion / M&amp;A</a:t>
            </a:r>
            <a:endParaRPr lang="en-US" sz="12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volatility in principal repayment (₹1,054 Cr - FY25 vs ₹144 Cr - FY26, refinancing-driven)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Credit Assessment &amp; Recommendation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618621" y="799137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5120640" cy="1783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/ Monitor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Comfortable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Credit 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3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Favourable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02920" y="3776471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840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and growing operating earnings (EBITDA margin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24-28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operating cash generation (CFO ₹1,633 Cr, FY26)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leverage (D/E 0.27x; Net Debt/EBITDA 1.00x)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interest servicing capacity (ISCR 9.5x)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43600" y="1554480"/>
            <a:ext cx="0" cy="448056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600200"/>
            <a:ext cx="5513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APPROVAL OF ₹200 CRORE FACILITY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377440"/>
            <a:ext cx="5513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 prudent credit conditions and ongoing monitoring, as set out below.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2926080"/>
            <a:ext cx="5513832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3246119"/>
            <a:ext cx="5513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Conditions / Monitoring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3364992"/>
            <a:ext cx="5513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Net Debt/EBITDA and interest coverage covenants annually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debtor days and short-term liquidity position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any material debt-funded expansion or M&amp;A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a clear principal repayment schedule at sanction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65653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Analysis — Max Healthcare Institute Limited (MHIL)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640</Words>
  <Application>Microsoft Office PowerPoint</Application>
  <PresentationFormat>Widescreen</PresentationFormat>
  <Paragraphs>151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Cambria</vt:lpstr>
      <vt:lpstr>Neue Haas Grotesk Text Pro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Swastika Sri</cp:lastModifiedBy>
  <cp:revision>16</cp:revision>
  <dcterms:created xsi:type="dcterms:W3CDTF">2026-09-11T19:49:57Z</dcterms:created>
  <dcterms:modified xsi:type="dcterms:W3CDTF">2026-09-12T06:20:02Z</dcterms:modified>
</cp:coreProperties>
</file>